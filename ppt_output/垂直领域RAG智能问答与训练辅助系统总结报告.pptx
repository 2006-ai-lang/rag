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1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垂直领域 RAG 智能问答与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训练辅助系统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914400" y="28346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100" kern="0" dirty="0">
                <a:solidFill>
                  <a:srgbClr val="E9F7EE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项目架构、RAG 检索体系、前端交互与数据库工程总结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BBBBB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年 9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1325880"/>
            <a:ext cx="502920" cy="50292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371600" y="1325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057400" y="130759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项目概览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2057400" y="16002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系统定位与核心技术底座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71600" y="2075688"/>
            <a:ext cx="502920" cy="50292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0756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57400" y="2057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核心实现流程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057400" y="23500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文档解析、混合检索与重排生成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71600" y="2825496"/>
            <a:ext cx="502920" cy="50292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371600" y="2825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57400" y="28072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057400" y="3099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视觉系统、交互技术与体验亮点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371600" y="3575304"/>
            <a:ext cx="502920" cy="50292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357530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3557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数据库搭建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057400" y="38496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关系模型与检索存储架构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71600" y="4325112"/>
            <a:ext cx="502920" cy="502920"/>
          </a:xfrm>
          <a:prstGeom prst="ellipse">
            <a:avLst/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7160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057400" y="430682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技术亮点与总结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2057400" y="459943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成果总结与演进展望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项目概览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核心技术底座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多源异构解析与重叠切片: PDF/DOCX/TXT 自动解析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双路互补混合检索: BM25 词频匹配 + 密集向量语义召回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Cross-Encoder 重排: 深度交叉打分, 剔除低相关噪音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带溯源的可信生成: 引用知识库原文切片, 可核查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前后端解耦: 原生 Web 前端 + FastAPI 后端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智能问答与多会话: 流式响应 + 历史回溯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知识库全生命周期管理: 拖拽上传 + 切片存储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专项训练与习题生成: 定制化评估与训练计划</a:t>
            </a:r>
            <a:endParaRPr lang="en-US" sz="1250" dirty="0"/>
          </a:p>
        </p:txBody>
      </p:sp>
      <p:pic>
        <p:nvPicPr>
          <p:cNvPr id="6" name="Image 0" descr="images/image-overview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系统架构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143000" y="13716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560320" y="13716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HTML5 + CSS3 + 模块化 ES6 JS  ·  零构建成本  ·  响应式布局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2148840"/>
            <a:ext cx="0" cy="5486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14400" y="274320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30B15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43000" y="27432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应用层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560320" y="27432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FastAPI  ·  RAG 混合检索  ·  LLM 生成  ·  用户认证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0" y="3520440"/>
            <a:ext cx="0" cy="54864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914400" y="4114800"/>
            <a:ext cx="7315200" cy="777240"/>
          </a:xfrm>
          <a:prstGeom prst="roundRect">
            <a:avLst>
              <a:gd name="adj" fmla="val 11765"/>
            </a:avLst>
          </a:prstGeom>
          <a:solidFill>
            <a:srgbClr val="1A4A2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143000" y="4114800"/>
            <a:ext cx="13716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60320" y="41148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关系型数据库  ·  向量索引 (FAISS)  ·  BM25 倒排索引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核心实现流程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离线知识加工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75488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9F0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在线混合检索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1A6B3C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325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文档上传 (PDF/DOCX/TXT)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23160" y="1828800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457200" y="1993392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30B15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93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文本分块 (重叠滑动切片)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2496312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660904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1A4A2B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609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向量化 (Embedding)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23160" y="3163824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3328416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2C7A4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3284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存储: 向量库 + 倒排索引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325880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FF9F0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325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用户提问 (Query)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1828800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754880" y="1993392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E8850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9933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向量召回 + BM25 召回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20840" y="2496312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0" y="2660904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D4770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266090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混合融合 (Hybrid) + Reranker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720840" y="3163824"/>
            <a:ext cx="0" cy="137160"/>
          </a:xfrm>
          <a:prstGeom prst="line">
            <a:avLst/>
          </a:prstGeom>
          <a:noFill/>
          <a:ln w="19050">
            <a:solidFill>
              <a:srgbClr val="9999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754880" y="3328416"/>
            <a:ext cx="3931920" cy="502920"/>
          </a:xfrm>
          <a:prstGeom prst="roundRect">
            <a:avLst>
              <a:gd name="adj" fmla="val 14545"/>
            </a:avLst>
          </a:prstGeom>
          <a:solidFill>
            <a:srgbClr val="B8650A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3284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上下文拼装 → LLM 生成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703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686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单一向量对专有名词匹配敏感度低, BM25 对同义表述泛化能力弱, 双路互补兼顾召回率与准确率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设计：视觉系统与响应式布局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现代极简设计哲学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CSS 变量体系: 统管主色调、背景层次、圆角与阴影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高度视觉一致性, 天然支持明暗主题扩展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弹性栅格: 桌面端三栏布局 (导航+问答+知识库)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抽屉式侧边栏: 移动端自动退化为折叠抽屉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响应式媒体查询: 无缝自适应多终端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零构建成本: 无 Webpack/Vite, 改动即刷新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现代原生 Web 技术栈: HTML5 + CSS3 + ES6 JS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媲美 SPA 单页应用的交互体验</a:t>
            </a:r>
            <a:endParaRPr lang="en-US" sz="1250" dirty="0"/>
          </a:p>
        </p:txBody>
      </p:sp>
      <p:pic>
        <p:nvPicPr>
          <p:cNvPr id="6" name="Image 0" descr="images/image-frontend-design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设计：核心交互技术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3891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关键交互实现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85800" y="1645920"/>
            <a:ext cx="3931920" cy="2743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无刷新会话管理: 前端响应式状态机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· 新建/重命名/删除/切换, 历史快速呈现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流式打字效果: ReadableStream 消费后端数据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· 边传输边排版, 杜绝视觉停滞感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实时 Markdown 渲染 + 代码块高亮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引用来源可视化: 结构化参考来源折叠卡片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· 展示匹配文件与原文切片, 增强透明度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微动效: 拖拽上传 + 解析进度条 + 骨架动效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防御性设计: 按钮防抖, 防止高频重复提交</a:t>
            </a:r>
            <a:endParaRPr lang="en-US" sz="1200" dirty="0"/>
          </a:p>
        </p:txBody>
      </p:sp>
      <p:pic>
        <p:nvPicPr>
          <p:cNvPr id="6" name="Image 0" descr="images/image-frontend-layout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前端 UI 设计：技术亮点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51560"/>
            <a:ext cx="2103120" cy="5486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SSE 流式响应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fetch + ReadableStream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逐块渲染 + 流式光标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支持手动停止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105156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0" y="1051560"/>
            <a:ext cx="2103120" cy="54864"/>
          </a:xfrm>
          <a:prstGeom prst="rect">
            <a:avLst/>
          </a:prstGeom>
          <a:solidFill>
            <a:srgbClr val="30B15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18872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30B15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实时 Markdown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926080" y="155448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轻量语法解析引擎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代码块高亮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边传输边排版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0322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903220"/>
            <a:ext cx="2103120" cy="54864"/>
          </a:xfrm>
          <a:prstGeom prst="rect">
            <a:avLst/>
          </a:prstGeom>
          <a:solidFill>
            <a:srgbClr val="1A4A2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403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A4A2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拖拽式上传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40614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Drag &amp; Drop 文件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动态解析进度条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切片分块存储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2903220"/>
            <a:ext cx="2103120" cy="166878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0" y="2903220"/>
            <a:ext cx="2103120" cy="54864"/>
          </a:xfrm>
          <a:prstGeom prst="rect">
            <a:avLst/>
          </a:prstGeom>
          <a:solidFill>
            <a:srgbClr val="2C7A4D"/>
          </a:solidFill>
          <a:ln/>
        </p:spPr>
      </p:sp>
      <p:sp>
        <p:nvSpPr>
          <p:cNvPr id="17" name="Text 15"/>
          <p:cNvSpPr/>
          <p:nvPr/>
        </p:nvSpPr>
        <p:spPr>
          <a:xfrm>
            <a:off x="2926080" y="304038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7A4D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防御性交互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26080" y="3406140"/>
            <a:ext cx="1737360" cy="9829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按钮防抖机制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加载骨架动效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防止重复提交</a:t>
            </a:r>
            <a:endParaRPr lang="en-US" sz="1100" dirty="0"/>
          </a:p>
        </p:txBody>
      </p:sp>
      <p:pic>
        <p:nvPicPr>
          <p:cNvPr id="19" name="Image 0" descr="images/image-frontend-tech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数据库搭建：关系型数据库模型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表名 / 实体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核心字段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业务作用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6B3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 (用户表)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id, username, password_hash, created_at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身份认证与多租户数据隔离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Session (会话表)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id, user_id, title, created_at, updated_at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一对多关联用户对话上下文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Message (消息表)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id, session_id, role, content, sources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持久化交互记录, JSON 存引用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Document/Chunk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doc_id, filename, file_type, chunk_count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文档元数据与切片总数管理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7EE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基于关系型数据库规范化设计, 实现事务元数据与高性能检索索引的物理与逻辑解耦</a:t>
            </a:r>
            <a:endParaRPr lang="en-US" sz="1150" dirty="0"/>
          </a:p>
        </p:txBody>
      </p:sp>
      <p:pic>
        <p:nvPicPr>
          <p:cNvPr id="5" name="Image 0" descr="images/image-database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3977640"/>
            <a:ext cx="36576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spc="10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数据库搭建：检索存储与向量索引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54864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元数据与高维特征解耦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6916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结构化信息 (文件名/时间/状态)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→ 关系数据库, 便于分页呈现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高维向量 Embedding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→ 专有向量检索层管理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基于余弦相似度近邻检索计算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物理与逻辑双重解耦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前台展示与检索各司其职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393192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097280"/>
            <a:ext cx="3931920" cy="54864"/>
          </a:xfrm>
          <a:prstGeom prst="rect">
            <a:avLst/>
          </a:prstGeom>
          <a:solidFill>
            <a:srgbClr val="30B15A"/>
          </a:solidFill>
          <a:ln/>
        </p:spPr>
      </p:sp>
      <p:sp>
        <p:nvSpPr>
          <p:cNvPr id="9" name="Text 7"/>
          <p:cNvSpPr/>
          <p:nvPr/>
        </p:nvSpPr>
        <p:spPr>
          <a:xfrm>
            <a:off x="4983480" y="1280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0B15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倒排词频索引持久化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83480" y="169164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文本段落分词 → BM25 倒排索引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词项与文档分块映射序列化存储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本地持久化存储, 保障数据安全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服务重启后秒级重载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BM25 精确命中专业术语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D1D1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向量语义理解自然语言同义表述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686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双路互补: BM25 解决专有名词命中, 向量解决语义泛化, 兼顾召回率与准确率</a:t>
            </a:r>
            <a:endParaRPr lang="en-US" sz="1200" dirty="0"/>
          </a:p>
        </p:txBody>
      </p:sp>
      <p:pic>
        <p:nvPicPr>
          <p:cNvPr id="12" name="Image 0" descr="images/image-security_4x3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0" y="4389120"/>
            <a:ext cx="36576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1D1D1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技术亮点与总结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1A6B3C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371600"/>
            <a:ext cx="457200" cy="457200"/>
          </a:xfrm>
          <a:prstGeom prst="ellipse">
            <a:avLst/>
          </a:prstGeom>
          <a:solidFill>
            <a:srgbClr val="1A6B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801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6B3C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多级漏斗检索精度优异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向量语义召回 + BM25 精确命中 + Reranker 交叉深度精排, 有效破解专业领域生僻术语命中率低的行业痛点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30B15A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2606040"/>
            <a:ext cx="457200" cy="457200"/>
          </a:xfrm>
          <a:prstGeom prst="ellipse">
            <a:avLst/>
          </a:prstGeom>
          <a:solidFill>
            <a:srgbClr val="30B15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25146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0B15A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极致轻量与零门槛维护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8016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前端零编译打包, 开箱即用; 后端 API、检索器、解析器与 LLM 客户端层层解耦, 架构整洁明晰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5661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1A4A2B"/>
          </a:solidFill>
          <a:ln/>
        </p:spPr>
      </p:sp>
      <p:sp>
        <p:nvSpPr>
          <p:cNvPr id="17" name="Shape 15"/>
          <p:cNvSpPr/>
          <p:nvPr/>
        </p:nvSpPr>
        <p:spPr>
          <a:xfrm>
            <a:off x="685800" y="3840480"/>
            <a:ext cx="457200" cy="457200"/>
          </a:xfrm>
          <a:prstGeom prst="ellipse">
            <a:avLst/>
          </a:prstGeom>
          <a:solidFill>
            <a:srgbClr val="1A4A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4A2B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高灵活性与演进潜力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114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底层存储和检索接口预留扩展能力, 可无缝接入 Milvus / PGVector 等工业级向量数据库或私有化大模型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F12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5486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总结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6400800" cy="2286000"/>
          </a:xfrm>
          <a:prstGeom prst="roundRect">
            <a:avLst>
              <a:gd name="adj" fmla="val 4000"/>
            </a:avLst>
          </a:prstGeom>
          <a:solidFill>
            <a:srgbClr val="0A1F12">
              <a:alpha val="70000"/>
            </a:srgbClr>
          </a:solidFill>
          <a:ln/>
          <a:effectLst>
            <a:outerShdw sx="100000" sy="100000" kx="0" ky="0" algn="bl" rotWithShape="0" blurRad="203200" dist="76200" dir="8100000">
              <a:srgbClr val="000000">
                <a:alpha val="3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645920" y="1691640"/>
            <a:ext cx="585216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工业级 RAG 检索管线: 解析→切片→混合检索→重排→溯源生成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现代极简前端: 零构建成本 + SSE 流式 + 拖拽上传 + 防御性交互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数据库工程: 关系模型 + 向量索引 + BM25 倒排, 物理解耦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E0E0E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演进方向: Milvus/PGVector 分布式向量库 + 私有化大模型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931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spc="200" kern="0" dirty="0">
                <a:solidFill>
                  <a:srgbClr val="FFFFFF"/>
                </a:solidFill>
                <a:latin typeface="Songti SC" pitchFamily="34" charset="0"/>
                <a:ea typeface="Songti SC" pitchFamily="34" charset="-122"/>
                <a:cs typeface="Songti SC" pitchFamily="34" charset="-120"/>
              </a:rPr>
              <a:t>谢谢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垂直领域RAG智能问答与训练辅助系统总结报告</dc:title>
  <dc:subject>PptxGenJS Presentation</dc:subject>
  <dc:creator>FitQA</dc:creator>
  <cp:lastModifiedBy>FitQA</cp:lastModifiedBy>
  <cp:revision>1</cp:revision>
  <dcterms:created xsi:type="dcterms:W3CDTF">2026-09-07T06:51:20Z</dcterms:created>
  <dcterms:modified xsi:type="dcterms:W3CDTF">2026-09-07T06:51:20Z</dcterms:modified>
</cp:coreProperties>
</file>